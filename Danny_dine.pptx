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13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366E4-35E5-7B5D-F814-E582C4422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C73406-1B3F-09E1-3655-044C4F6A7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7DFE3-6C5C-BD5A-F4FD-0C277AB81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EC42C-4818-4818-BBAA-5750A18E16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33F15-A51F-2978-D26D-B18B5525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CA79E-C5CE-2EB0-9293-B6A0DB89D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5779-FAD4-4C0C-914C-7520BA63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27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FA5B3-8F1F-B833-529A-852CCE3C2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D39B3-6280-A658-26AF-532997375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67A82-5119-4C3F-6123-2534A557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EC42C-4818-4818-BBAA-5750A18E16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547E1-8FA2-879B-03BE-8898D0FB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BE68-93B7-0FE7-7749-BBE94EEF6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5779-FAD4-4C0C-914C-7520BA63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71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B70A6-4AD2-0336-7B3B-962B88F23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19225-81E1-4EC4-3E81-774B3297A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949DB-2D23-BE54-BEB8-7405DFD04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EC42C-4818-4818-BBAA-5750A18E16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D74C3-D7FD-14B7-9D28-D1A379078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3BF52-9D79-1B9C-A952-D54BA5290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5779-FAD4-4C0C-914C-7520BA63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101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D3E56-F708-5B04-2A34-15340AFCA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717F6-8980-D854-6A5B-CA954FB75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0147F-9435-C998-015F-88DFAF2AE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33459-7DD6-DCD8-D651-98CB894E5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EC42C-4818-4818-BBAA-5750A18E16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6158E-870D-8929-1169-1BAC76F46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E5ECD-8E27-32E1-FBC2-177EEB5F3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5779-FAD4-4C0C-914C-7520BA63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62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EF01F-8F9D-F621-4968-2FCBD3FFD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D5BDA-CB58-4F8C-DE5C-A64E7C6E9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8139C-B6BA-3E6E-33FF-4BF0BA936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4E786C-ACEE-F21A-0B05-A3A52A90E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8CDC74-0C8B-3A3E-C49D-6781593500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8AECF5-06F0-2CE9-3F3C-708B2B8B7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EC42C-4818-4818-BBAA-5750A18E16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BF7482-E23C-547F-219F-BC58C8628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1594CF-1542-7088-BD2D-580EF831D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5779-FAD4-4C0C-914C-7520BA63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762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301E7-E008-087B-5771-25583E5DB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D4D37-2661-CFC4-2E7B-A51EEED81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EC42C-4818-4818-BBAA-5750A18E16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1B2986-C655-8A4B-C3D6-6CE7F0747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1D36A-9F0D-F5D9-9089-C01F63E11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5779-FAD4-4C0C-914C-7520BA63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6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F747A9-A48D-BA4F-762D-409EE6E00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EC42C-4818-4818-BBAA-5750A18E16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49A91F-D2C8-887E-696E-43378C9C2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C7473-2A0E-BBD3-75FA-8CA719A4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5779-FAD4-4C0C-914C-7520BA63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65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F6992-FDD2-5DF2-218D-AF1CADAC6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88A5C-5FC8-5230-041D-57429950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B5FF7C-55AB-84B3-8B64-5C196DDB1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54B77-B305-ACB7-B0FD-6437AA74B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EC42C-4818-4818-BBAA-5750A18E16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CB6E4-F2A8-5A14-DE6B-64BCFEA11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D2E9C-9455-7C22-6915-57FDAD8A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5779-FAD4-4C0C-914C-7520BA63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2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9CA2C-6058-FBC1-B6F2-64A1DB0DF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F90A7D-A2C0-2DEC-8D33-04AE0F96B3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80292-6F7F-E63A-7DD9-0795DA08D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D87FD-45EE-C892-5C27-A412F21A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EC42C-4818-4818-BBAA-5750A18E16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6168C-0450-9C56-8073-E86ACFEC4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2D481-730C-0BB9-F6D2-8735B3772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5779-FAD4-4C0C-914C-7520BA63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77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176CB-112F-C594-88D8-A5B85A275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8A6C3-4EEF-18F8-55B3-281792138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6C31E-5FCD-9965-0C79-7D4A69BFF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EC42C-4818-4818-BBAA-5750A18E16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16345-B60C-AA7A-67F2-ACBCD02B1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30F52-5E23-9694-F20F-E107FD6F3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5779-FAD4-4C0C-914C-7520BA63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373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0550C6-58A4-D115-B6D8-0B93483B44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2594A-788C-1CAC-8ECA-966A7F7556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46254-3133-D6A5-2930-0D2BF90AF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EC42C-4818-4818-BBAA-5750A18E16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81999-12C5-1DBA-1D2C-25218C384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2D426-96D9-D753-5CE8-5BF23A228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5779-FAD4-4C0C-914C-7520BA63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01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547D4-2D9D-A096-B716-1CAC96570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1998B-F9AB-C684-605A-651BED5C7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1FA15-171E-9C06-9B83-A8593E6F1E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EC42C-4818-4818-BBAA-5750A18E16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408DD-04EC-2A8E-254F-FCE9D67FB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5B5AE-2D05-8BD1-825D-5BA6885942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55779-FAD4-4C0C-914C-7520BA63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19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429C-E76A-976C-F98C-A55DFA6EDD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0007E0-3C63-0FF3-FD25-01FA55C97D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597ADB-2C77-0B80-1612-670A0FE40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0734"/>
            <a:ext cx="12192000" cy="68987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8246F6-1B56-023C-C8E6-EA3485480706}"/>
              </a:ext>
            </a:extLst>
          </p:cNvPr>
          <p:cNvSpPr/>
          <p:nvPr/>
        </p:nvSpPr>
        <p:spPr>
          <a:xfrm>
            <a:off x="207005" y="5857845"/>
            <a:ext cx="317811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Presented BY: Monica Vohra</a:t>
            </a:r>
          </a:p>
        </p:txBody>
      </p:sp>
    </p:spTree>
    <p:extLst>
      <p:ext uri="{BB962C8B-B14F-4D97-AF65-F5344CB8AC3E}">
        <p14:creationId xmlns:p14="http://schemas.microsoft.com/office/powerpoint/2010/main" val="2579885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7B59AA-B7CB-03CD-9F9B-AE138E40BD3C}"/>
              </a:ext>
            </a:extLst>
          </p:cNvPr>
          <p:cNvSpPr txBox="1"/>
          <p:nvPr/>
        </p:nvSpPr>
        <p:spPr>
          <a:xfrm>
            <a:off x="143758" y="281615"/>
            <a:ext cx="11809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endParaRPr lang="en-US" dirty="0">
              <a:solidFill>
                <a:srgbClr val="404040"/>
              </a:solidFill>
              <a:highlight>
                <a:srgbClr val="FFFFFF"/>
              </a:highlight>
              <a:latin typeface="-system-ui"/>
            </a:endParaRPr>
          </a:p>
          <a:p>
            <a:pPr algn="l" fontAlgn="base"/>
            <a:endParaRPr lang="en-US" b="0" i="0" dirty="0">
              <a:solidFill>
                <a:srgbClr val="404040"/>
              </a:solidFill>
              <a:effectLst/>
              <a:highlight>
                <a:srgbClr val="FFFFFF"/>
              </a:highlight>
              <a:latin typeface="-system-ui"/>
            </a:endParaRPr>
          </a:p>
          <a:p>
            <a:pPr algn="l" fontAlgn="base"/>
            <a:endParaRPr lang="en-US" b="0" i="0" dirty="0">
              <a:solidFill>
                <a:srgbClr val="404040"/>
              </a:solidFill>
              <a:effectLst/>
              <a:highlight>
                <a:srgbClr val="FFFFFF"/>
              </a:highlight>
              <a:latin typeface="-system-ui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7D0D4F7-65B6-D632-73A8-5D4E8DB75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813" y="3489010"/>
            <a:ext cx="11714374" cy="55399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04C429-952C-C6C3-5E78-9D67D22E8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183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241929-7DCA-4E6E-82B3-33C8C0090096}"/>
              </a:ext>
            </a:extLst>
          </p:cNvPr>
          <p:cNvSpPr txBox="1"/>
          <p:nvPr/>
        </p:nvSpPr>
        <p:spPr>
          <a:xfrm>
            <a:off x="405353" y="0"/>
            <a:ext cx="86915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b="1" i="0" dirty="0">
                <a:solidFill>
                  <a:schemeClr val="bg1"/>
                </a:solidFill>
                <a:effectLst/>
                <a:latin typeface="-system-ui"/>
              </a:rPr>
              <a:t>Introduction</a:t>
            </a:r>
          </a:p>
          <a:p>
            <a:pPr algn="l" fontAlgn="base"/>
            <a:r>
              <a:rPr lang="en-US" b="0" i="0" dirty="0">
                <a:solidFill>
                  <a:schemeClr val="bg1"/>
                </a:solidFill>
                <a:effectLst/>
                <a:latin typeface="-system-ui"/>
              </a:rPr>
              <a:t>Danny seriously loves Japanese food so in the beginning of 2021, he decides to embark upon a risky venture and opens up a cute little restaurant that sells his 3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-system-ui"/>
              </a:rPr>
              <a:t>favourite</a:t>
            </a:r>
            <a:r>
              <a:rPr lang="en-US" b="0" i="0" dirty="0">
                <a:solidFill>
                  <a:schemeClr val="bg1"/>
                </a:solidFill>
                <a:effectLst/>
                <a:latin typeface="-system-ui"/>
              </a:rPr>
              <a:t> foods: sushi, curry and ramen.</a:t>
            </a:r>
          </a:p>
          <a:p>
            <a:pPr algn="l" fontAlgn="base"/>
            <a:r>
              <a:rPr lang="en-US" b="0" i="0" dirty="0">
                <a:solidFill>
                  <a:schemeClr val="bg1"/>
                </a:solidFill>
                <a:effectLst/>
                <a:latin typeface="-system-ui"/>
              </a:rPr>
              <a:t>Danny’s Diner is in need of your assistance to help the restaurant stay afloat - the restaurant has captured some very basic data from their few months of operation but have no idea how to use their data to help them run the business.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38DF93-C7ED-993D-0D13-2D4D9407EE9F}"/>
              </a:ext>
            </a:extLst>
          </p:cNvPr>
          <p:cNvSpPr txBox="1"/>
          <p:nvPr/>
        </p:nvSpPr>
        <p:spPr>
          <a:xfrm>
            <a:off x="405353" y="2177592"/>
            <a:ext cx="877635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b="1" i="0" dirty="0">
                <a:solidFill>
                  <a:schemeClr val="bg1"/>
                </a:solidFill>
                <a:effectLst/>
                <a:latin typeface="-system-ui"/>
              </a:rPr>
              <a:t>Problem Statement </a:t>
            </a:r>
          </a:p>
          <a:p>
            <a:pPr algn="l" fontAlgn="base"/>
            <a:r>
              <a:rPr lang="en-US" b="0" i="0" dirty="0">
                <a:solidFill>
                  <a:schemeClr val="bg1"/>
                </a:solidFill>
                <a:effectLst/>
                <a:latin typeface="-system-ui"/>
              </a:rPr>
              <a:t>Danny wants to use the data to answer a few simple questions about his customers, especially about their visiting patterns, how much money they’ve spent and also which menu items are their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-system-ui"/>
              </a:rPr>
              <a:t>favourite</a:t>
            </a:r>
            <a:r>
              <a:rPr lang="en-US" b="0" i="0" dirty="0">
                <a:solidFill>
                  <a:schemeClr val="bg1"/>
                </a:solidFill>
                <a:effectLst/>
                <a:latin typeface="-system-ui"/>
              </a:rPr>
              <a:t>. Having this deeper connection with his customers will help him deliver a better and more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-system-ui"/>
              </a:rPr>
              <a:t>personalised</a:t>
            </a:r>
            <a:r>
              <a:rPr lang="en-US" b="0" i="0" dirty="0">
                <a:solidFill>
                  <a:schemeClr val="bg1"/>
                </a:solidFill>
                <a:effectLst/>
                <a:latin typeface="-system-ui"/>
              </a:rPr>
              <a:t> experience for his loyal customers.</a:t>
            </a:r>
          </a:p>
          <a:p>
            <a:pPr algn="l" fontAlgn="base"/>
            <a:r>
              <a:rPr lang="en-US" b="0" i="0" dirty="0">
                <a:solidFill>
                  <a:schemeClr val="bg1"/>
                </a:solidFill>
                <a:effectLst/>
                <a:latin typeface="-system-ui"/>
              </a:rPr>
              <a:t>He plans on using these insights to help him decide whether he should expand the existing customer loyalty program - additionally he needs help to generate some basic datasets so his team can easily inspect the data without needing to use SQL.</a:t>
            </a:r>
          </a:p>
          <a:p>
            <a:pPr algn="l" fontAlgn="base"/>
            <a:r>
              <a:rPr lang="en-US" b="0" i="0" dirty="0">
                <a:solidFill>
                  <a:schemeClr val="bg1"/>
                </a:solidFill>
                <a:effectLst/>
                <a:latin typeface="-system-ui"/>
              </a:rPr>
              <a:t>Danny has provided you with a sample of his overall customer data due to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-system-ui"/>
              </a:rPr>
              <a:t>privac</a:t>
            </a:r>
            <a:endParaRPr lang="en-US" b="0" i="0" dirty="0">
              <a:solidFill>
                <a:schemeClr val="bg1"/>
              </a:solidFill>
              <a:effectLst/>
              <a:latin typeface="-system-ui"/>
            </a:endParaRPr>
          </a:p>
          <a:p>
            <a:pPr algn="l" fontAlgn="base"/>
            <a:r>
              <a:rPr lang="en-US" b="0" i="0" dirty="0">
                <a:solidFill>
                  <a:schemeClr val="bg1"/>
                </a:solidFill>
                <a:effectLst/>
                <a:latin typeface="-system-ui"/>
              </a:rPr>
              <a:t>Danny has provided you with a sample of his overall customer data due to privacy issues - but he hopes that these examples are enough for you to write fully functioning SQL queries to help him answer his questions!</a:t>
            </a:r>
          </a:p>
          <a:p>
            <a:pPr algn="l" fontAlgn="base"/>
            <a:endParaRPr lang="en-US" dirty="0">
              <a:solidFill>
                <a:schemeClr val="bg1"/>
              </a:solidFill>
              <a:latin typeface="-system-ui"/>
            </a:endParaRPr>
          </a:p>
          <a:p>
            <a:pPr algn="l" fontAlgn="base"/>
            <a:r>
              <a:rPr lang="en-US" b="0" i="0" dirty="0">
                <a:solidFill>
                  <a:schemeClr val="bg1"/>
                </a:solidFill>
                <a:effectLst/>
                <a:latin typeface="-system-ui"/>
              </a:rPr>
              <a:t>Danny has shared with you 3 key datasets for this case study: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system-ui"/>
              </a:rPr>
              <a:t>Sales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system-ui"/>
              </a:rPr>
              <a:t>Menu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system-ui"/>
              </a:rPr>
              <a:t>Members</a:t>
            </a:r>
            <a:endParaRPr lang="en-US" b="0" i="0" dirty="0">
              <a:solidFill>
                <a:schemeClr val="bg1"/>
              </a:solidFill>
              <a:effectLst/>
              <a:latin typeface="-system-ui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2E4936-1109-F803-45D3-ECB8D3B1902E}"/>
              </a:ext>
            </a:extLst>
          </p:cNvPr>
          <p:cNvSpPr txBox="1"/>
          <p:nvPr/>
        </p:nvSpPr>
        <p:spPr>
          <a:xfrm>
            <a:off x="8837024" y="6388568"/>
            <a:ext cx="2872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Presented BY: Monica Vohra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854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691ED7-5BB0-14CC-F94F-D0BAD64FD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269" y="-30660"/>
            <a:ext cx="12470633" cy="68886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F5F078-83F1-0455-2C1C-504DC4C2289D}"/>
              </a:ext>
            </a:extLst>
          </p:cNvPr>
          <p:cNvSpPr txBox="1"/>
          <p:nvPr/>
        </p:nvSpPr>
        <p:spPr>
          <a:xfrm>
            <a:off x="2205872" y="207389"/>
            <a:ext cx="4958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b="1" i="0" dirty="0">
                <a:solidFill>
                  <a:schemeClr val="bg1"/>
                </a:solidFill>
                <a:effectLst/>
                <a:latin typeface="-system-ui"/>
              </a:rPr>
              <a:t>Entity Relationship Diagram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1D70C45-4B5F-CDCF-6B37-DC9AA0BF8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49" y="1329180"/>
            <a:ext cx="8701137" cy="4181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51A6BB-97F1-D385-AFF5-12AC6E25E1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02" y="0"/>
            <a:ext cx="11189795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5DFCA1-336E-65C6-A9B7-2A129240F2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02" y="1128362"/>
            <a:ext cx="8611802" cy="45345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5BE900-E822-032E-8F85-ED4D961FDDB8}"/>
              </a:ext>
            </a:extLst>
          </p:cNvPr>
          <p:cNvSpPr txBox="1"/>
          <p:nvPr/>
        </p:nvSpPr>
        <p:spPr>
          <a:xfrm>
            <a:off x="6395480" y="6242329"/>
            <a:ext cx="2872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Presented BY: Monica Vohra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936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1A5046-1883-8A9E-37A7-1F9544C7F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7" y="-469748"/>
            <a:ext cx="12192000" cy="7433035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381DE7B9-8EED-ED22-4B23-5CC0CAA50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71" y="-362026"/>
            <a:ext cx="12051021" cy="984885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-system-ui"/>
              </a:rPr>
              <a:t>All datasets exist within the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FF554A"/>
                </a:solidFill>
                <a:effectLst/>
                <a:latin typeface="Bitstream Vera Sans Mono"/>
              </a:rPr>
              <a:t>dannys_diner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-system-ui"/>
              </a:rPr>
              <a:t> database schema - be sure to include this reference within your SQL scripts as you start exploring the data and answering the case study questions.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83F342B8-BBBE-5C04-0263-7A4E38C11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71" y="958461"/>
            <a:ext cx="4666692" cy="830997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-system-ui"/>
              </a:rPr>
              <a:t>Table 1: sales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-system-ui"/>
              </a:rPr>
              <a:t>The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554A"/>
                </a:solidFill>
                <a:effectLst/>
                <a:latin typeface="Bitstream Vera Sans Mono"/>
              </a:rPr>
              <a:t>sales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-system-ui"/>
              </a:rPr>
              <a:t> table captures all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554A"/>
                </a:solidFill>
                <a:effectLst/>
                <a:latin typeface="Bitstream Vera Sans Mono"/>
              </a:rPr>
              <a:t>customer_id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-system-ui"/>
              </a:rPr>
              <a:t> level purchases with an corresponding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554A"/>
                </a:solidFill>
                <a:effectLst/>
                <a:latin typeface="Bitstream Vera Sans Mono"/>
              </a:rPr>
              <a:t>order_date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-system-ui"/>
              </a:rPr>
              <a:t> and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554A"/>
                </a:solidFill>
                <a:effectLst/>
                <a:latin typeface="Bitstream Vera Sans Mono"/>
              </a:rPr>
              <a:t>product_id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-system-ui"/>
              </a:rPr>
              <a:t> information for when and what menu items were ordered.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35F3CC3-CA72-788C-2F79-1B424FA354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201981"/>
              </p:ext>
            </p:extLst>
          </p:nvPr>
        </p:nvGraphicFramePr>
        <p:xfrm>
          <a:off x="103272" y="2125062"/>
          <a:ext cx="4525290" cy="4502620"/>
        </p:xfrm>
        <a:graphic>
          <a:graphicData uri="http://schemas.openxmlformats.org/drawingml/2006/table">
            <a:tbl>
              <a:tblPr/>
              <a:tblGrid>
                <a:gridCol w="1508430">
                  <a:extLst>
                    <a:ext uri="{9D8B030D-6E8A-4147-A177-3AD203B41FA5}">
                      <a16:colId xmlns:a16="http://schemas.microsoft.com/office/drawing/2014/main" val="3024522477"/>
                    </a:ext>
                  </a:extLst>
                </a:gridCol>
                <a:gridCol w="1508430">
                  <a:extLst>
                    <a:ext uri="{9D8B030D-6E8A-4147-A177-3AD203B41FA5}">
                      <a16:colId xmlns:a16="http://schemas.microsoft.com/office/drawing/2014/main" val="3891211559"/>
                    </a:ext>
                  </a:extLst>
                </a:gridCol>
                <a:gridCol w="1508430">
                  <a:extLst>
                    <a:ext uri="{9D8B030D-6E8A-4147-A177-3AD203B41FA5}">
                      <a16:colId xmlns:a16="http://schemas.microsoft.com/office/drawing/2014/main" val="38129425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>
                          <a:effectLst/>
                          <a:latin typeface="inherit"/>
                        </a:rPr>
                        <a:t>customer_id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>
                          <a:effectLst/>
                          <a:latin typeface="inherit"/>
                        </a:rPr>
                        <a:t>order_date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 dirty="0" err="1">
                          <a:effectLst/>
                          <a:latin typeface="inherit"/>
                        </a:rPr>
                        <a:t>product_id</a:t>
                      </a:r>
                      <a:endParaRPr lang="en-US" sz="1300" b="1" dirty="0">
                        <a:effectLst/>
                        <a:latin typeface="inherit"/>
                      </a:endParaRP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518895"/>
                  </a:ext>
                </a:extLst>
              </a:tr>
              <a:tr h="28243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A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2021-01-01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598456"/>
                  </a:ext>
                </a:extLst>
              </a:tr>
              <a:tr h="28243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A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2021-01-01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2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140521"/>
                  </a:ext>
                </a:extLst>
              </a:tr>
              <a:tr h="28243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A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2021-01-07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2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987029"/>
                  </a:ext>
                </a:extLst>
              </a:tr>
              <a:tr h="28243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A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2021-01-10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3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550836"/>
                  </a:ext>
                </a:extLst>
              </a:tr>
              <a:tr h="28243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A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2021-01-11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3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926460"/>
                  </a:ext>
                </a:extLst>
              </a:tr>
              <a:tr h="28243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A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2021-01-11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3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050020"/>
                  </a:ext>
                </a:extLst>
              </a:tr>
              <a:tr h="28243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B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2021-01-01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2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142962"/>
                  </a:ext>
                </a:extLst>
              </a:tr>
              <a:tr h="28243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B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2021-01-02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2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865133"/>
                  </a:ext>
                </a:extLst>
              </a:tr>
              <a:tr h="28243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B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2021-01-04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087824"/>
                  </a:ext>
                </a:extLst>
              </a:tr>
              <a:tr h="28243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B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2021-01-11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119734"/>
                  </a:ext>
                </a:extLst>
              </a:tr>
              <a:tr h="28243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B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2021-01-16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3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743463"/>
                  </a:ext>
                </a:extLst>
              </a:tr>
              <a:tr h="28243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B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2021-02-01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3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551985"/>
                  </a:ext>
                </a:extLst>
              </a:tr>
              <a:tr h="28243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C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2021-01-01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3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109151"/>
                  </a:ext>
                </a:extLst>
              </a:tr>
              <a:tr h="28243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C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2021-01-01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3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993140"/>
                  </a:ext>
                </a:extLst>
              </a:tr>
              <a:tr h="28243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C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2021-01-07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dirty="0">
                          <a:effectLst/>
                        </a:rPr>
                        <a:t>3</a:t>
                      </a:r>
                    </a:p>
                  </a:txBody>
                  <a:tcPr marL="73655" marR="73655" marT="33995" marB="33995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757583"/>
                  </a:ext>
                </a:extLst>
              </a:tr>
            </a:tbl>
          </a:graphicData>
        </a:graphic>
      </p:graphicFrame>
      <p:sp>
        <p:nvSpPr>
          <p:cNvPr id="16" name="Rectangle 7">
            <a:extLst>
              <a:ext uri="{FF2B5EF4-FFF2-40B4-BE49-F238E27FC236}">
                <a16:creationId xmlns:a16="http://schemas.microsoft.com/office/drawing/2014/main" id="{D71BA7D4-8E42-C49A-AE98-D6053B4E7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3136" y="758407"/>
            <a:ext cx="4591276" cy="63094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-system-ui"/>
              </a:rPr>
              <a:t>Table 2: menu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-system-ui"/>
              </a:rPr>
              <a:t>The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554A"/>
                </a:solidFill>
                <a:effectLst/>
                <a:latin typeface="Bitstream Vera Sans Mono"/>
              </a:rPr>
              <a:t>menu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-system-ui"/>
              </a:rPr>
              <a:t> table maps the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554A"/>
                </a:solidFill>
                <a:effectLst/>
                <a:latin typeface="Bitstream Vera Sans Mono"/>
              </a:rPr>
              <a:t>product_id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-system-ui"/>
              </a:rPr>
              <a:t> to the actual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554A"/>
                </a:solidFill>
                <a:effectLst/>
                <a:latin typeface="Bitstream Vera Sans Mono"/>
              </a:rPr>
              <a:t>product_name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-system-ui"/>
              </a:rPr>
              <a:t> and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554A"/>
                </a:solidFill>
                <a:effectLst/>
                <a:latin typeface="Bitstream Vera Sans Mono"/>
              </a:rPr>
              <a:t>price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-system-ui"/>
              </a:rPr>
              <a:t> of each menu item.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442F69B-B0D9-79C3-1E44-7F3B6C4E4E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559672"/>
              </p:ext>
            </p:extLst>
          </p:nvPr>
        </p:nvGraphicFramePr>
        <p:xfrm>
          <a:off x="6712518" y="1662776"/>
          <a:ext cx="4892511" cy="1583993"/>
        </p:xfrm>
        <a:graphic>
          <a:graphicData uri="http://schemas.openxmlformats.org/drawingml/2006/table">
            <a:tbl>
              <a:tblPr/>
              <a:tblGrid>
                <a:gridCol w="1630837">
                  <a:extLst>
                    <a:ext uri="{9D8B030D-6E8A-4147-A177-3AD203B41FA5}">
                      <a16:colId xmlns:a16="http://schemas.microsoft.com/office/drawing/2014/main" val="1199834319"/>
                    </a:ext>
                  </a:extLst>
                </a:gridCol>
                <a:gridCol w="1630837">
                  <a:extLst>
                    <a:ext uri="{9D8B030D-6E8A-4147-A177-3AD203B41FA5}">
                      <a16:colId xmlns:a16="http://schemas.microsoft.com/office/drawing/2014/main" val="2323215765"/>
                    </a:ext>
                  </a:extLst>
                </a:gridCol>
                <a:gridCol w="1630837">
                  <a:extLst>
                    <a:ext uri="{9D8B030D-6E8A-4147-A177-3AD203B41FA5}">
                      <a16:colId xmlns:a16="http://schemas.microsoft.com/office/drawing/2014/main" val="4279376278"/>
                    </a:ext>
                  </a:extLst>
                </a:gridCol>
              </a:tblGrid>
              <a:tr h="486713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  <a:latin typeface="inherit"/>
                        </a:rPr>
                        <a:t>product_id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  <a:latin typeface="inherit"/>
                        </a:rPr>
                        <a:t>product_name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 dirty="0">
                          <a:effectLst/>
                          <a:latin typeface="inherit"/>
                        </a:rPr>
                        <a:t>price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578875"/>
                  </a:ext>
                </a:extLst>
              </a:tr>
              <a:tr h="278122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sushi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10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206120"/>
                  </a:ext>
                </a:extLst>
              </a:tr>
              <a:tr h="278122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curry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15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492484"/>
                  </a:ext>
                </a:extLst>
              </a:tr>
              <a:tr h="278122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ramen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12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0073"/>
                  </a:ext>
                </a:extLst>
              </a:tr>
            </a:tbl>
          </a:graphicData>
        </a:graphic>
      </p:graphicFrame>
      <p:sp>
        <p:nvSpPr>
          <p:cNvPr id="18" name="Rectangle 8">
            <a:extLst>
              <a:ext uri="{FF2B5EF4-FFF2-40B4-BE49-F238E27FC236}">
                <a16:creationId xmlns:a16="http://schemas.microsoft.com/office/drawing/2014/main" id="{DC9F6502-3EFE-41BE-CD33-5811BD238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7934" y="3801839"/>
            <a:ext cx="5301614" cy="63094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-system-ui"/>
              </a:rPr>
              <a:t>Table 3: members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-system-ui"/>
              </a:rPr>
              <a:t>The final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554A"/>
                </a:solidFill>
                <a:effectLst/>
                <a:latin typeface="Bitstream Vera Sans Mono"/>
              </a:rPr>
              <a:t>members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-system-ui"/>
              </a:rPr>
              <a:t> table captures the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554A"/>
                </a:solidFill>
                <a:effectLst/>
                <a:latin typeface="Bitstream Vera Sans Mono"/>
              </a:rPr>
              <a:t>join_date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-system-ui"/>
              </a:rPr>
              <a:t> when a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554A"/>
                </a:solidFill>
                <a:effectLst/>
                <a:latin typeface="Bitstream Vera Sans Mono"/>
              </a:rPr>
              <a:t>customer_id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-system-ui"/>
              </a:rPr>
              <a:t> joined the beta version of the Danny’s Diner loyalty program.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05E82DD-7BBA-98FB-D492-F3AAD090E0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067127"/>
              </p:ext>
            </p:extLst>
          </p:nvPr>
        </p:nvGraphicFramePr>
        <p:xfrm>
          <a:off x="7173797" y="4866675"/>
          <a:ext cx="4176076" cy="1097280"/>
        </p:xfrm>
        <a:graphic>
          <a:graphicData uri="http://schemas.openxmlformats.org/drawingml/2006/table">
            <a:tbl>
              <a:tblPr/>
              <a:tblGrid>
                <a:gridCol w="2088038">
                  <a:extLst>
                    <a:ext uri="{9D8B030D-6E8A-4147-A177-3AD203B41FA5}">
                      <a16:colId xmlns:a16="http://schemas.microsoft.com/office/drawing/2014/main" val="3399879761"/>
                    </a:ext>
                  </a:extLst>
                </a:gridCol>
                <a:gridCol w="2088038">
                  <a:extLst>
                    <a:ext uri="{9D8B030D-6E8A-4147-A177-3AD203B41FA5}">
                      <a16:colId xmlns:a16="http://schemas.microsoft.com/office/drawing/2014/main" val="33362262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  <a:latin typeface="inherit"/>
                        </a:rPr>
                        <a:t>customer_id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  <a:latin typeface="inherit"/>
                        </a:rPr>
                        <a:t>join_date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06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A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2021-01-07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003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B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2021-01-09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81579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598E27D-A7AB-81E8-9254-1B0458038558}"/>
              </a:ext>
            </a:extLst>
          </p:cNvPr>
          <p:cNvSpPr txBox="1"/>
          <p:nvPr/>
        </p:nvSpPr>
        <p:spPr>
          <a:xfrm>
            <a:off x="9193452" y="6513749"/>
            <a:ext cx="2872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Presented BY: Monica Vohra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023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5FD8D2-0D31-5D50-F742-9941F6493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257A00-F973-037D-E791-E970B216ADEF}"/>
              </a:ext>
            </a:extLst>
          </p:cNvPr>
          <p:cNvSpPr txBox="1"/>
          <p:nvPr/>
        </p:nvSpPr>
        <p:spPr>
          <a:xfrm>
            <a:off x="461911" y="386499"/>
            <a:ext cx="861610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SCHEMA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dannys_diner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r>
              <a:rPr lang="en-US" b="1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SET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search_path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dannys_diner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r>
              <a:rPr lang="en-US" b="1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TABLE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sales ( "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" VARCHAR(1), "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order_date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" DATE, "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product_id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" INTEGER ); 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r>
              <a:rPr lang="en-US" b="1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INSERT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INTO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sales ("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", "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order_date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", "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product_id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") </a:t>
            </a:r>
            <a:r>
              <a:rPr lang="en-US" b="1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VALUES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('A', '2021-01-01', '1'), ('A', '2021-01-01', '2'), ('A', '2021-01-07', '2'), ('A', '2021-01-10', '3'), ('A', '2021-01-11', '3'), ('A', '2021-01-11', '3'), ('B', '2021-01-01', '2'), ('B', '2021-01-02', '2'), ('B', '2021-01-04', '1'), ('B', '2021-01-11', '1'), ('B', '2021-01-16', '3'), ('B', '2021-02-01', '3'), ('C', '2021-01-01', '3'), ('C', '2021-01-01', '3'), ('C', '2021-01-07', '3’); 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r>
              <a:rPr lang="en-US" b="1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TABLE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menu ( "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product_id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" INTEGER, "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product_name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" VARCHAR(5), "price" INTEGER ); </a:t>
            </a:r>
            <a:r>
              <a:rPr lang="en-US" b="1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INSERT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INTO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menu ("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product_id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", "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product_name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", "price") </a:t>
            </a:r>
            <a:r>
              <a:rPr lang="en-US" b="1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VALUES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('1', 'sushi', '10'), ('2', 'curry', '15'), ('3', 'ramen', '12'); </a:t>
            </a:r>
            <a:r>
              <a:rPr lang="en-US" b="1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TABLE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members ( "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" VARCHAR(1), "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join_date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" DATE ); </a:t>
            </a:r>
            <a:r>
              <a:rPr lang="en-US" b="1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INSERT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INTO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members ("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", "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join_date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") </a:t>
            </a:r>
            <a:r>
              <a:rPr lang="en-US" b="1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VALUES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('A', '2021-01-07'), ('B', '2021-01-09');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C4447D-F0CB-7B9E-9159-BF28F263FD9D}"/>
              </a:ext>
            </a:extLst>
          </p:cNvPr>
          <p:cNvSpPr txBox="1"/>
          <p:nvPr/>
        </p:nvSpPr>
        <p:spPr>
          <a:xfrm>
            <a:off x="7064784" y="6169599"/>
            <a:ext cx="2872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Presented BY: Monica Vohra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273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229F4AF-2D0B-4D56-4E53-98F9D84C1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206F6D-8538-9615-2608-B85F5A29AD43}"/>
              </a:ext>
            </a:extLst>
          </p:cNvPr>
          <p:cNvSpPr txBox="1"/>
          <p:nvPr/>
        </p:nvSpPr>
        <p:spPr>
          <a:xfrm>
            <a:off x="84844" y="158006"/>
            <a:ext cx="529786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-system-ui"/>
              </a:rPr>
              <a:t>1.What is the total amount each customer spent at the restaurant?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42F8F-289B-6A12-1214-2AB30C3E8F37}"/>
              </a:ext>
            </a:extLst>
          </p:cNvPr>
          <p:cNvSpPr txBox="1"/>
          <p:nvPr/>
        </p:nvSpPr>
        <p:spPr>
          <a:xfrm>
            <a:off x="102476" y="1371314"/>
            <a:ext cx="346441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select </a:t>
            </a:r>
            <a:r>
              <a:rPr lang="en-US" dirty="0" err="1">
                <a:solidFill>
                  <a:schemeClr val="bg1"/>
                </a:solidFill>
                <a:highlight>
                  <a:srgbClr val="FF0000"/>
                </a:highlight>
              </a:rPr>
              <a:t>s.customer_id</a:t>
            </a:r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, sum(</a:t>
            </a:r>
            <a:r>
              <a:rPr lang="en-US" dirty="0" err="1">
                <a:solidFill>
                  <a:schemeClr val="bg1"/>
                </a:solidFill>
                <a:highlight>
                  <a:srgbClr val="FF0000"/>
                </a:highlight>
              </a:rPr>
              <a:t>m.price</a:t>
            </a:r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from sales s 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Join menu m 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on </a:t>
            </a:r>
            <a:r>
              <a:rPr lang="en-US" dirty="0" err="1">
                <a:solidFill>
                  <a:schemeClr val="bg1"/>
                </a:solidFill>
                <a:highlight>
                  <a:srgbClr val="FF0000"/>
                </a:highlight>
              </a:rPr>
              <a:t>s.product_id</a:t>
            </a:r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=</a:t>
            </a:r>
            <a:r>
              <a:rPr lang="en-US" dirty="0" err="1">
                <a:solidFill>
                  <a:schemeClr val="bg1"/>
                </a:solidFill>
                <a:highlight>
                  <a:srgbClr val="FF0000"/>
                </a:highlight>
              </a:rPr>
              <a:t>m.product_id</a:t>
            </a:r>
            <a:endParaRPr lang="en-US" dirty="0">
              <a:solidFill>
                <a:schemeClr val="bg1"/>
              </a:solidFill>
              <a:highlight>
                <a:srgbClr val="FF0000"/>
              </a:highlight>
            </a:endParaRPr>
          </a:p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group by </a:t>
            </a:r>
            <a:r>
              <a:rPr lang="en-US" dirty="0" err="1">
                <a:solidFill>
                  <a:schemeClr val="bg1"/>
                </a:solidFill>
                <a:highlight>
                  <a:srgbClr val="FF0000"/>
                </a:highlight>
              </a:rPr>
              <a:t>customer_id</a:t>
            </a:r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C810F-90B0-C493-3EC5-82233FB79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55" y="3428999"/>
            <a:ext cx="3086531" cy="20576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A70802-01F3-1AF3-FBA4-6247F439215F}"/>
              </a:ext>
            </a:extLst>
          </p:cNvPr>
          <p:cNvSpPr txBox="1"/>
          <p:nvPr/>
        </p:nvSpPr>
        <p:spPr>
          <a:xfrm>
            <a:off x="5763089" y="158006"/>
            <a:ext cx="65557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-system-ui"/>
              </a:rPr>
              <a:t>2.How many days has each customer visited the restaurant?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022559-67A4-18CB-D082-0FF3F015EAAC}"/>
              </a:ext>
            </a:extLst>
          </p:cNvPr>
          <p:cNvSpPr txBox="1"/>
          <p:nvPr/>
        </p:nvSpPr>
        <p:spPr>
          <a:xfrm>
            <a:off x="6202837" y="1371314"/>
            <a:ext cx="55073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select </a:t>
            </a:r>
            <a:r>
              <a:rPr lang="en-US" dirty="0" err="1">
                <a:solidFill>
                  <a:schemeClr val="bg1"/>
                </a:solidFill>
                <a:highlight>
                  <a:srgbClr val="FF0000"/>
                </a:highlight>
              </a:rPr>
              <a:t>Customer_id,count</a:t>
            </a:r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(distinct </a:t>
            </a:r>
            <a:r>
              <a:rPr lang="en-US" dirty="0" err="1">
                <a:solidFill>
                  <a:schemeClr val="bg1"/>
                </a:solidFill>
                <a:highlight>
                  <a:srgbClr val="FF0000"/>
                </a:highlight>
              </a:rPr>
              <a:t>order_date</a:t>
            </a:r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) as </a:t>
            </a:r>
            <a:r>
              <a:rPr lang="en-US" dirty="0" err="1">
                <a:solidFill>
                  <a:schemeClr val="bg1"/>
                </a:solidFill>
                <a:highlight>
                  <a:srgbClr val="FF0000"/>
                </a:highlight>
              </a:rPr>
              <a:t>visited_days</a:t>
            </a:r>
            <a:endParaRPr lang="en-US" dirty="0">
              <a:solidFill>
                <a:schemeClr val="bg1"/>
              </a:solidFill>
              <a:highlight>
                <a:srgbClr val="FF0000"/>
              </a:highlight>
            </a:endParaRPr>
          </a:p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from sales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group by </a:t>
            </a:r>
            <a:r>
              <a:rPr lang="en-US" dirty="0" err="1">
                <a:solidFill>
                  <a:schemeClr val="bg1"/>
                </a:solidFill>
                <a:highlight>
                  <a:srgbClr val="FF0000"/>
                </a:highlight>
              </a:rPr>
              <a:t>Customer_id</a:t>
            </a:r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;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B5725D4-0F34-E49D-4DE5-C4AB55585C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836" y="3293806"/>
            <a:ext cx="3550763" cy="21928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80D97D-9F58-B02A-0D00-00A8C9BC1B8C}"/>
              </a:ext>
            </a:extLst>
          </p:cNvPr>
          <p:cNvSpPr txBox="1"/>
          <p:nvPr/>
        </p:nvSpPr>
        <p:spPr>
          <a:xfrm>
            <a:off x="8317308" y="6208849"/>
            <a:ext cx="2872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Presented BY: Monica Vohra</a:t>
            </a:r>
            <a:endParaRPr lang="en-US" sz="1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067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882EC4-32F0-EB35-FD66-933C46624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C947B7-9F33-EF59-5C55-C43E361711BB}"/>
              </a:ext>
            </a:extLst>
          </p:cNvPr>
          <p:cNvSpPr txBox="1"/>
          <p:nvPr/>
        </p:nvSpPr>
        <p:spPr>
          <a:xfrm>
            <a:off x="3374796" y="181782"/>
            <a:ext cx="785993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0" dirty="0">
                <a:solidFill>
                  <a:schemeClr val="bg1"/>
                </a:solidFill>
                <a:effectLst/>
                <a:latin typeface="-system-ui"/>
              </a:rPr>
              <a:t>3.What was the first item from the menu purchased by each customer?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193093-F2B0-23CC-0563-9CCA93890801}"/>
              </a:ext>
            </a:extLst>
          </p:cNvPr>
          <p:cNvSpPr txBox="1"/>
          <p:nvPr/>
        </p:nvSpPr>
        <p:spPr>
          <a:xfrm>
            <a:off x="3277334" y="597879"/>
            <a:ext cx="53670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SELECT </a:t>
            </a:r>
            <a:r>
              <a:rPr lang="en-US" dirty="0" err="1">
                <a:solidFill>
                  <a:schemeClr val="bg1"/>
                </a:solidFill>
              </a:rPr>
              <a:t>s.customer_id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m.product_name,s.order_date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FROM sales s </a:t>
            </a:r>
          </a:p>
          <a:p>
            <a:r>
              <a:rPr lang="en-US" dirty="0">
                <a:solidFill>
                  <a:schemeClr val="bg1"/>
                </a:solidFill>
              </a:rPr>
              <a:t>JOIN menu m ON </a:t>
            </a:r>
            <a:r>
              <a:rPr lang="en-US" dirty="0" err="1">
                <a:solidFill>
                  <a:schemeClr val="bg1"/>
                </a:solidFill>
              </a:rPr>
              <a:t>s.product_id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err="1">
                <a:solidFill>
                  <a:schemeClr val="bg1"/>
                </a:solidFill>
              </a:rPr>
              <a:t>m.product_id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WHERE </a:t>
            </a:r>
            <a:r>
              <a:rPr lang="en-US" dirty="0" err="1">
                <a:solidFill>
                  <a:schemeClr val="bg1"/>
                </a:solidFill>
              </a:rPr>
              <a:t>s.order_date</a:t>
            </a:r>
            <a:r>
              <a:rPr lang="en-US" dirty="0">
                <a:solidFill>
                  <a:schemeClr val="bg1"/>
                </a:solidFill>
              </a:rPr>
              <a:t> IN (    SELECT MIN(</a:t>
            </a:r>
            <a:r>
              <a:rPr lang="en-US" dirty="0" err="1">
                <a:solidFill>
                  <a:schemeClr val="bg1"/>
                </a:solidFill>
              </a:rPr>
              <a:t>order_date</a:t>
            </a:r>
            <a:r>
              <a:rPr lang="en-US" dirty="0">
                <a:solidFill>
                  <a:schemeClr val="bg1"/>
                </a:solidFill>
              </a:rPr>
              <a:t>)    </a:t>
            </a:r>
          </a:p>
          <a:p>
            <a:r>
              <a:rPr lang="en-US" dirty="0">
                <a:solidFill>
                  <a:schemeClr val="bg1"/>
                </a:solidFill>
              </a:rPr>
              <a:t>FROM sales   </a:t>
            </a:r>
          </a:p>
          <a:p>
            <a:r>
              <a:rPr lang="en-US" dirty="0">
                <a:solidFill>
                  <a:schemeClr val="bg1"/>
                </a:solidFill>
              </a:rPr>
              <a:t>GROUP BY </a:t>
            </a:r>
            <a:r>
              <a:rPr lang="en-US" dirty="0" err="1">
                <a:solidFill>
                  <a:schemeClr val="bg1"/>
                </a:solidFill>
              </a:rPr>
              <a:t>customer_id</a:t>
            </a:r>
            <a:r>
              <a:rPr lang="en-US" dirty="0">
                <a:solidFill>
                  <a:schemeClr val="bg1"/>
                </a:solidFill>
              </a:rPr>
              <a:t>)ORDER BY </a:t>
            </a:r>
            <a:r>
              <a:rPr lang="en-US" dirty="0" err="1">
                <a:solidFill>
                  <a:schemeClr val="bg1"/>
                </a:solidFill>
              </a:rPr>
              <a:t>s.customer_id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035B94-2A0A-5D40-E965-40191F2AE9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961" y="758246"/>
            <a:ext cx="3581900" cy="20100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74F8A7-EAF5-1A0E-9CB5-383A026D94FC}"/>
              </a:ext>
            </a:extLst>
          </p:cNvPr>
          <p:cNvSpPr txBox="1"/>
          <p:nvPr/>
        </p:nvSpPr>
        <p:spPr>
          <a:xfrm>
            <a:off x="2802904" y="3104814"/>
            <a:ext cx="938909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0" dirty="0">
                <a:solidFill>
                  <a:schemeClr val="bg1"/>
                </a:solidFill>
                <a:effectLst/>
                <a:latin typeface="-system-ui"/>
              </a:rPr>
              <a:t>4.What is the most purchased item on the menu and how many times was it purchased by all customers?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6A03A7-AEA7-8DBF-7621-8DC29B084598}"/>
              </a:ext>
            </a:extLst>
          </p:cNvPr>
          <p:cNvSpPr txBox="1"/>
          <p:nvPr/>
        </p:nvSpPr>
        <p:spPr>
          <a:xfrm>
            <a:off x="3129699" y="4089699"/>
            <a:ext cx="44588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Select </a:t>
            </a:r>
            <a:r>
              <a:rPr lang="en-US" dirty="0" err="1">
                <a:solidFill>
                  <a:schemeClr val="bg1"/>
                </a:solidFill>
              </a:rPr>
              <a:t>m.product_name,count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s.product_id</a:t>
            </a:r>
            <a:r>
              <a:rPr lang="en-US" dirty="0">
                <a:solidFill>
                  <a:schemeClr val="bg1"/>
                </a:solidFill>
              </a:rPr>
              <a:t>) as </a:t>
            </a:r>
            <a:r>
              <a:rPr lang="en-US" dirty="0" err="1">
                <a:solidFill>
                  <a:schemeClr val="bg1"/>
                </a:solidFill>
              </a:rPr>
              <a:t>most_selling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from sales s join menu m </a:t>
            </a:r>
          </a:p>
          <a:p>
            <a:r>
              <a:rPr lang="en-US" dirty="0">
                <a:solidFill>
                  <a:schemeClr val="bg1"/>
                </a:solidFill>
              </a:rPr>
              <a:t>on </a:t>
            </a:r>
            <a:r>
              <a:rPr lang="en-US" dirty="0" err="1">
                <a:solidFill>
                  <a:schemeClr val="bg1"/>
                </a:solidFill>
              </a:rPr>
              <a:t>m.product_id</a:t>
            </a:r>
            <a:r>
              <a:rPr lang="en-US" dirty="0">
                <a:solidFill>
                  <a:schemeClr val="bg1"/>
                </a:solidFill>
              </a:rPr>
              <a:t>=</a:t>
            </a:r>
            <a:r>
              <a:rPr lang="en-US" dirty="0" err="1">
                <a:solidFill>
                  <a:schemeClr val="bg1"/>
                </a:solidFill>
              </a:rPr>
              <a:t>s.product_idgroup</a:t>
            </a:r>
            <a:r>
              <a:rPr lang="en-US" dirty="0">
                <a:solidFill>
                  <a:schemeClr val="bg1"/>
                </a:solidFill>
              </a:rPr>
              <a:t> by </a:t>
            </a:r>
            <a:r>
              <a:rPr lang="en-US" dirty="0" err="1">
                <a:solidFill>
                  <a:schemeClr val="bg1"/>
                </a:solidFill>
              </a:rPr>
              <a:t>m.product_name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order by </a:t>
            </a:r>
            <a:r>
              <a:rPr lang="en-US" dirty="0" err="1">
                <a:solidFill>
                  <a:schemeClr val="bg1"/>
                </a:solidFill>
              </a:rPr>
              <a:t>most_selling</a:t>
            </a:r>
            <a:r>
              <a:rPr lang="en-US" dirty="0">
                <a:solidFill>
                  <a:schemeClr val="bg1"/>
                </a:solidFill>
              </a:rPr>
              <a:t> desc</a:t>
            </a:r>
          </a:p>
          <a:p>
            <a:r>
              <a:rPr lang="en-US" dirty="0">
                <a:solidFill>
                  <a:schemeClr val="bg1"/>
                </a:solidFill>
              </a:rPr>
              <a:t>limit 1;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B75DFD-4BE1-8879-85E5-7AC0F250B9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379" y="4089699"/>
            <a:ext cx="2734057" cy="18963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BDE540-A9F8-1819-AC7C-1E352B16B308}"/>
              </a:ext>
            </a:extLst>
          </p:cNvPr>
          <p:cNvSpPr txBox="1"/>
          <p:nvPr/>
        </p:nvSpPr>
        <p:spPr>
          <a:xfrm>
            <a:off x="8644379" y="6211669"/>
            <a:ext cx="2872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Presented BY: Monica Vohra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378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B8F530-EE26-4BFC-ACD4-968E35E61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96"/>
            <a:ext cx="12192000" cy="68415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05EE36-1632-E06A-3E0E-92B36A709A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15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811050-8126-9404-87CA-0FB21AF14F54}"/>
              </a:ext>
            </a:extLst>
          </p:cNvPr>
          <p:cNvSpPr txBox="1"/>
          <p:nvPr/>
        </p:nvSpPr>
        <p:spPr>
          <a:xfrm>
            <a:off x="235671" y="320510"/>
            <a:ext cx="514703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0" dirty="0">
                <a:solidFill>
                  <a:srgbClr val="404040"/>
                </a:solidFill>
                <a:effectLst/>
                <a:latin typeface="-system-ui"/>
              </a:rPr>
              <a:t>5.Which item was the most popular for each customer?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CDB389-CA99-8D3A-8097-94234060A7DD}"/>
              </a:ext>
            </a:extLst>
          </p:cNvPr>
          <p:cNvSpPr txBox="1"/>
          <p:nvPr/>
        </p:nvSpPr>
        <p:spPr>
          <a:xfrm>
            <a:off x="235671" y="1107432"/>
            <a:ext cx="52978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s.customer_id,m.product_name,count</a:t>
            </a:r>
            <a:r>
              <a:rPr lang="en-US" dirty="0"/>
              <a:t>(</a:t>
            </a:r>
            <a:r>
              <a:rPr lang="en-US" dirty="0" err="1"/>
              <a:t>s.product_id</a:t>
            </a:r>
            <a:r>
              <a:rPr lang="en-US" dirty="0"/>
              <a:t>) as </a:t>
            </a:r>
            <a:r>
              <a:rPr lang="en-US" dirty="0" err="1"/>
              <a:t>order_countfrom</a:t>
            </a:r>
            <a:r>
              <a:rPr lang="en-US" dirty="0"/>
              <a:t> sales </a:t>
            </a:r>
            <a:r>
              <a:rPr lang="en-US" dirty="0" err="1"/>
              <a:t>sjoin</a:t>
            </a:r>
            <a:r>
              <a:rPr lang="en-US" dirty="0"/>
              <a:t> menu m</a:t>
            </a:r>
          </a:p>
          <a:p>
            <a:r>
              <a:rPr lang="en-US" dirty="0"/>
              <a:t>On </a:t>
            </a:r>
            <a:r>
              <a:rPr lang="en-US" dirty="0" err="1"/>
              <a:t>m.product_id</a:t>
            </a:r>
            <a:r>
              <a:rPr lang="en-US" dirty="0"/>
              <a:t>=</a:t>
            </a:r>
            <a:r>
              <a:rPr lang="en-US" dirty="0" err="1"/>
              <a:t>s.product_id</a:t>
            </a:r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s.customer_id,m.product_name,s.product_id</a:t>
            </a:r>
            <a:endParaRPr lang="en-US" dirty="0"/>
          </a:p>
          <a:p>
            <a:r>
              <a:rPr lang="en-US" dirty="0"/>
              <a:t>order by</a:t>
            </a:r>
          </a:p>
          <a:p>
            <a:r>
              <a:rPr lang="en-US" dirty="0" err="1"/>
              <a:t>order_count</a:t>
            </a:r>
            <a:r>
              <a:rPr lang="en-US" dirty="0"/>
              <a:t> desc;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A4C78F-C35D-81EE-7C0B-D02D235B41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547" y="971847"/>
            <a:ext cx="4201111" cy="20862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02B50C-92BE-F9F8-0C51-0FC80A8C7C1D}"/>
              </a:ext>
            </a:extLst>
          </p:cNvPr>
          <p:cNvSpPr txBox="1"/>
          <p:nvPr/>
        </p:nvSpPr>
        <p:spPr>
          <a:xfrm>
            <a:off x="131975" y="3336356"/>
            <a:ext cx="610856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0" dirty="0">
                <a:solidFill>
                  <a:srgbClr val="404040"/>
                </a:solidFill>
                <a:effectLst/>
                <a:latin typeface="-system-ui"/>
              </a:rPr>
              <a:t>6.Which item was purchased first by the customer after they became a member?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49C831-AD7B-B7C6-261F-3514E865B8C6}"/>
              </a:ext>
            </a:extLst>
          </p:cNvPr>
          <p:cNvSpPr txBox="1"/>
          <p:nvPr/>
        </p:nvSpPr>
        <p:spPr>
          <a:xfrm>
            <a:off x="329938" y="4015556"/>
            <a:ext cx="58446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s.customer_id,m.product_id,m.product_name,s.order_date</a:t>
            </a:r>
            <a:endParaRPr lang="en-US" dirty="0"/>
          </a:p>
          <a:p>
            <a:r>
              <a:rPr lang="en-US" dirty="0"/>
              <a:t>from sales s join menu m on </a:t>
            </a:r>
            <a:r>
              <a:rPr lang="en-US" dirty="0" err="1"/>
              <a:t>m.product_id</a:t>
            </a:r>
            <a:r>
              <a:rPr lang="en-US" dirty="0"/>
              <a:t>=</a:t>
            </a:r>
            <a:r>
              <a:rPr lang="en-US" dirty="0" err="1"/>
              <a:t>s.product_id</a:t>
            </a:r>
            <a:r>
              <a:rPr lang="en-US" dirty="0"/>
              <a:t> join members  as me on </a:t>
            </a:r>
            <a:r>
              <a:rPr lang="en-US" dirty="0" err="1"/>
              <a:t>s.customer_id</a:t>
            </a:r>
            <a:r>
              <a:rPr lang="en-US" dirty="0"/>
              <a:t>=</a:t>
            </a:r>
            <a:r>
              <a:rPr lang="en-US" dirty="0" err="1"/>
              <a:t>me.customer_id</a:t>
            </a:r>
            <a:r>
              <a:rPr lang="en-US" dirty="0"/>
              <a:t> where </a:t>
            </a:r>
            <a:r>
              <a:rPr lang="en-US" dirty="0" err="1"/>
              <a:t>s.order_date</a:t>
            </a:r>
            <a:r>
              <a:rPr lang="en-US" dirty="0"/>
              <a:t>&gt;= </a:t>
            </a:r>
            <a:r>
              <a:rPr lang="en-US" dirty="0" err="1"/>
              <a:t>me.join_date</a:t>
            </a:r>
            <a:r>
              <a:rPr lang="en-US" dirty="0"/>
              <a:t> and </a:t>
            </a:r>
            <a:r>
              <a:rPr lang="en-US" dirty="0" err="1"/>
              <a:t>s.order_date</a:t>
            </a:r>
            <a:r>
              <a:rPr lang="en-US" dirty="0"/>
              <a:t>=(select min(s2.order_date) from sales as s2 where s2.customer_id=</a:t>
            </a:r>
            <a:r>
              <a:rPr lang="en-US" dirty="0" err="1"/>
              <a:t>s.customer_id</a:t>
            </a:r>
            <a:r>
              <a:rPr lang="en-US" dirty="0"/>
              <a:t> and s2.order_date&gt;=</a:t>
            </a:r>
            <a:r>
              <a:rPr lang="en-US" dirty="0" err="1"/>
              <a:t>me.join_date</a:t>
            </a:r>
            <a:r>
              <a:rPr lang="en-US" dirty="0"/>
              <a:t>);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4275447-6828-57EA-A1BF-6E1629F74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494" y="3828798"/>
            <a:ext cx="4324954" cy="17047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AD72BF-B666-0F8B-2090-3F3CC057DBBE}"/>
              </a:ext>
            </a:extLst>
          </p:cNvPr>
          <p:cNvSpPr txBox="1"/>
          <p:nvPr/>
        </p:nvSpPr>
        <p:spPr>
          <a:xfrm>
            <a:off x="6504494" y="6437001"/>
            <a:ext cx="2872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n w="22225">
                  <a:solidFill>
                    <a:schemeClr val="accent2"/>
                  </a:solidFill>
                  <a:prstDash val="solid"/>
                </a:ln>
              </a:rPr>
              <a:t>Presented BY: Monica Vohra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733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0AD94F-9501-4EC9-94F2-091929696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03CC7D-B49E-9C33-CC0C-2504139F71C3}"/>
              </a:ext>
            </a:extLst>
          </p:cNvPr>
          <p:cNvSpPr txBox="1"/>
          <p:nvPr/>
        </p:nvSpPr>
        <p:spPr>
          <a:xfrm>
            <a:off x="160255" y="367645"/>
            <a:ext cx="80699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7.Which item was purchased just before the customer became a member?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F5AC00-DF47-305F-9912-F90F263A0BAD}"/>
              </a:ext>
            </a:extLst>
          </p:cNvPr>
          <p:cNvSpPr txBox="1"/>
          <p:nvPr/>
        </p:nvSpPr>
        <p:spPr>
          <a:xfrm>
            <a:off x="160255" y="736977"/>
            <a:ext cx="66562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s.customer_id,m.product_id,m.product_name,s.order_date</a:t>
            </a:r>
            <a:endParaRPr lang="en-US" dirty="0"/>
          </a:p>
          <a:p>
            <a:r>
              <a:rPr lang="en-US" dirty="0"/>
              <a:t>from sales s join menu m on </a:t>
            </a:r>
            <a:r>
              <a:rPr lang="en-US" dirty="0" err="1"/>
              <a:t>m.product_id</a:t>
            </a:r>
            <a:r>
              <a:rPr lang="en-US" dirty="0"/>
              <a:t>=</a:t>
            </a:r>
            <a:r>
              <a:rPr lang="en-US" dirty="0" err="1"/>
              <a:t>s.product_id</a:t>
            </a:r>
            <a:r>
              <a:rPr lang="en-US" dirty="0"/>
              <a:t> join members  as me on </a:t>
            </a:r>
            <a:r>
              <a:rPr lang="en-US" dirty="0" err="1"/>
              <a:t>s.customer_id</a:t>
            </a:r>
            <a:r>
              <a:rPr lang="en-US" dirty="0"/>
              <a:t>=</a:t>
            </a:r>
            <a:r>
              <a:rPr lang="en-US" dirty="0" err="1"/>
              <a:t>me.customer_id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s.order_date</a:t>
            </a:r>
            <a:r>
              <a:rPr lang="en-US" dirty="0"/>
              <a:t>&lt;= </a:t>
            </a:r>
            <a:r>
              <a:rPr lang="en-US" dirty="0" err="1"/>
              <a:t>me.join_date</a:t>
            </a:r>
            <a:r>
              <a:rPr lang="en-US" dirty="0"/>
              <a:t> and </a:t>
            </a:r>
            <a:r>
              <a:rPr lang="en-US" dirty="0" err="1"/>
              <a:t>s.order_date</a:t>
            </a:r>
            <a:r>
              <a:rPr lang="en-US" dirty="0"/>
              <a:t>=(select min(s2.order_date) from sales as s2 </a:t>
            </a:r>
          </a:p>
          <a:p>
            <a:r>
              <a:rPr lang="en-US" dirty="0"/>
              <a:t>where s2.customer_id=</a:t>
            </a:r>
            <a:r>
              <a:rPr lang="en-US" dirty="0" err="1"/>
              <a:t>s.customer_id</a:t>
            </a:r>
            <a:r>
              <a:rPr lang="en-US" dirty="0"/>
              <a:t> and s2.order_date&lt;=</a:t>
            </a:r>
            <a:r>
              <a:rPr lang="en-US" dirty="0" err="1"/>
              <a:t>me.join_date</a:t>
            </a:r>
            <a:r>
              <a:rPr lang="en-US" dirty="0"/>
              <a:t>);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08E4CD-5A6D-F2AD-90F7-8DA926EB5D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682" y="767755"/>
            <a:ext cx="4953691" cy="1143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F5CF02-0DB0-C2DF-E702-176B3EE17F49}"/>
              </a:ext>
            </a:extLst>
          </p:cNvPr>
          <p:cNvSpPr txBox="1"/>
          <p:nvPr/>
        </p:nvSpPr>
        <p:spPr>
          <a:xfrm>
            <a:off x="207845" y="2783691"/>
            <a:ext cx="65610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8. What is the total items and amount spent for each member before they became a member?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9DD939-AA21-41EA-DF3E-020F554976AD}"/>
              </a:ext>
            </a:extLst>
          </p:cNvPr>
          <p:cNvSpPr txBox="1"/>
          <p:nvPr/>
        </p:nvSpPr>
        <p:spPr>
          <a:xfrm>
            <a:off x="301658" y="3881284"/>
            <a:ext cx="50810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s.customer_id,sum</a:t>
            </a:r>
            <a:r>
              <a:rPr lang="en-US" dirty="0"/>
              <a:t>(</a:t>
            </a:r>
            <a:r>
              <a:rPr lang="en-US" dirty="0" err="1"/>
              <a:t>m.price</a:t>
            </a:r>
            <a:r>
              <a:rPr lang="en-US" dirty="0"/>
              <a:t>) </a:t>
            </a:r>
            <a:r>
              <a:rPr lang="en-US" dirty="0" err="1"/>
              <a:t>total_spend,count</a:t>
            </a:r>
            <a:r>
              <a:rPr lang="en-US" dirty="0"/>
              <a:t>(</a:t>
            </a:r>
            <a:r>
              <a:rPr lang="en-US" dirty="0" err="1"/>
              <a:t>s.product_id</a:t>
            </a:r>
            <a:r>
              <a:rPr lang="en-US" dirty="0"/>
              <a:t>) as </a:t>
            </a:r>
            <a:r>
              <a:rPr lang="en-US" dirty="0" err="1"/>
              <a:t>total_quantity</a:t>
            </a:r>
            <a:endParaRPr lang="en-US" dirty="0"/>
          </a:p>
          <a:p>
            <a:r>
              <a:rPr lang="en-US" dirty="0"/>
              <a:t>from sales s join menu m</a:t>
            </a:r>
          </a:p>
          <a:p>
            <a:r>
              <a:rPr lang="en-US" dirty="0"/>
              <a:t>on </a:t>
            </a:r>
            <a:r>
              <a:rPr lang="en-US" dirty="0" err="1"/>
              <a:t>m.product_id</a:t>
            </a:r>
            <a:r>
              <a:rPr lang="en-US" dirty="0"/>
              <a:t>=</a:t>
            </a:r>
            <a:r>
              <a:rPr lang="en-US" dirty="0" err="1"/>
              <a:t>s.product_id</a:t>
            </a:r>
            <a:r>
              <a:rPr lang="en-US" dirty="0"/>
              <a:t> join members me</a:t>
            </a:r>
          </a:p>
          <a:p>
            <a:r>
              <a:rPr lang="en-US" dirty="0"/>
              <a:t>on </a:t>
            </a:r>
            <a:r>
              <a:rPr lang="en-US" dirty="0" err="1"/>
              <a:t>s.customer_id</a:t>
            </a:r>
            <a:r>
              <a:rPr lang="en-US" dirty="0"/>
              <a:t>=</a:t>
            </a:r>
            <a:r>
              <a:rPr lang="en-US" dirty="0" err="1"/>
              <a:t>me.customer_id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me.join_date</a:t>
            </a:r>
            <a:r>
              <a:rPr lang="en-US" dirty="0"/>
              <a:t>&gt;</a:t>
            </a:r>
            <a:r>
              <a:rPr lang="en-US" dirty="0" err="1"/>
              <a:t>s.order_date</a:t>
            </a:r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s.customer_id</a:t>
            </a:r>
            <a:endParaRPr lang="en-US" dirty="0"/>
          </a:p>
          <a:p>
            <a:r>
              <a:rPr lang="en-US" dirty="0"/>
              <a:t>order by </a:t>
            </a:r>
            <a:r>
              <a:rPr lang="en-US" dirty="0" err="1"/>
              <a:t>customer_id</a:t>
            </a:r>
            <a:r>
              <a:rPr lang="en-US" dirty="0"/>
              <a:t>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6871F9-12D9-504A-9E7A-35C69B5BD3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439" y="3860155"/>
            <a:ext cx="3229426" cy="8764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56F6F1-E9D6-5660-EF7F-3C47B0EB23A6}"/>
              </a:ext>
            </a:extLst>
          </p:cNvPr>
          <p:cNvSpPr txBox="1"/>
          <p:nvPr/>
        </p:nvSpPr>
        <p:spPr>
          <a:xfrm>
            <a:off x="5731497" y="6490355"/>
            <a:ext cx="2872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n w="22225">
                  <a:solidFill>
                    <a:schemeClr val="accent2"/>
                  </a:solidFill>
                  <a:prstDash val="solid"/>
                </a:ln>
              </a:rPr>
              <a:t>Presented BY: Monica Vohra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73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DAAEB9-6A00-2531-C577-2894B8D4E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49DDAA-45D3-40C2-DC72-8E4C21A42F4C}"/>
              </a:ext>
            </a:extLst>
          </p:cNvPr>
          <p:cNvSpPr txBox="1"/>
          <p:nvPr/>
        </p:nvSpPr>
        <p:spPr>
          <a:xfrm>
            <a:off x="179110" y="348792"/>
            <a:ext cx="61462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9. If each $1 spent equates to 10 points and sushi has a 2x points multiplier - how many points would each customer have?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0BEAC-9CB0-6C67-FB34-9215D843229F}"/>
              </a:ext>
            </a:extLst>
          </p:cNvPr>
          <p:cNvSpPr txBox="1"/>
          <p:nvPr/>
        </p:nvSpPr>
        <p:spPr>
          <a:xfrm>
            <a:off x="179110" y="1451727"/>
            <a:ext cx="57974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s.customer_id</a:t>
            </a:r>
            <a:r>
              <a:rPr lang="en-US" dirty="0"/>
              <a:t>,  SUM(   CASE              </a:t>
            </a:r>
          </a:p>
          <a:p>
            <a:r>
              <a:rPr lang="en-US" dirty="0"/>
              <a:t>WHEN </a:t>
            </a:r>
            <a:r>
              <a:rPr lang="en-US" dirty="0" err="1"/>
              <a:t>m.product_name</a:t>
            </a:r>
            <a:r>
              <a:rPr lang="en-US" dirty="0"/>
              <a:t> = 'sushi' THEN </a:t>
            </a:r>
            <a:r>
              <a:rPr lang="en-US" dirty="0" err="1"/>
              <a:t>m.price</a:t>
            </a:r>
            <a:r>
              <a:rPr lang="en-US" dirty="0"/>
              <a:t> * 20               ELSE </a:t>
            </a:r>
            <a:r>
              <a:rPr lang="en-US" dirty="0" err="1"/>
              <a:t>m.price</a:t>
            </a:r>
            <a:r>
              <a:rPr lang="en-US" dirty="0"/>
              <a:t> * 10           END       ) AS </a:t>
            </a:r>
            <a:r>
              <a:rPr lang="en-US" dirty="0" err="1"/>
              <a:t>pointsFROM</a:t>
            </a:r>
            <a:r>
              <a:rPr lang="en-US" dirty="0"/>
              <a:t> sales s</a:t>
            </a:r>
          </a:p>
          <a:p>
            <a:r>
              <a:rPr lang="en-US" dirty="0"/>
              <a:t>JOIN menu m ON </a:t>
            </a:r>
            <a:r>
              <a:rPr lang="en-US" dirty="0" err="1"/>
              <a:t>s.product_id</a:t>
            </a:r>
            <a:r>
              <a:rPr lang="en-US" dirty="0"/>
              <a:t> = </a:t>
            </a:r>
            <a:r>
              <a:rPr lang="en-US" dirty="0" err="1"/>
              <a:t>m.product_id</a:t>
            </a:r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s.customer_id</a:t>
            </a:r>
            <a:r>
              <a:rPr lang="en-US" dirty="0"/>
              <a:t>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BADD72-BAAB-7CE2-8E46-37DEA4DF4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715" y="1364455"/>
            <a:ext cx="2200582" cy="11812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AF9D14-6497-B3D8-071D-5E23DBE64BB1}"/>
              </a:ext>
            </a:extLst>
          </p:cNvPr>
          <p:cNvSpPr txBox="1"/>
          <p:nvPr/>
        </p:nvSpPr>
        <p:spPr>
          <a:xfrm>
            <a:off x="179110" y="2991199"/>
            <a:ext cx="66647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10. In the first week after a customer joins the program (including their join date) they </a:t>
            </a:r>
            <a:r>
              <a:rPr lang="en-US" sz="2000" b="1" dirty="0" err="1"/>
              <a:t>arn</a:t>
            </a:r>
            <a:r>
              <a:rPr lang="en-US" sz="2000" b="1" dirty="0"/>
              <a:t> 2x points on all items, not just sushi - how many points do customer A and B </a:t>
            </a:r>
            <a:r>
              <a:rPr lang="en-US" sz="2000" b="1" dirty="0" err="1"/>
              <a:t>ave</a:t>
            </a:r>
            <a:r>
              <a:rPr lang="en-US" sz="2000" b="1" dirty="0"/>
              <a:t> at the end of January?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9C7953-132E-2BC2-9319-B096A283E012}"/>
              </a:ext>
            </a:extLst>
          </p:cNvPr>
          <p:cNvSpPr txBox="1"/>
          <p:nvPr/>
        </p:nvSpPr>
        <p:spPr>
          <a:xfrm>
            <a:off x="217731" y="4170107"/>
            <a:ext cx="62867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s.customer_id</a:t>
            </a:r>
            <a:r>
              <a:rPr lang="en-US" dirty="0"/>
              <a:t>,  SUM(CASE WHEN </a:t>
            </a:r>
            <a:r>
              <a:rPr lang="en-US" dirty="0" err="1"/>
              <a:t>m.product_name</a:t>
            </a:r>
            <a:r>
              <a:rPr lang="en-US" dirty="0"/>
              <a:t> = 'sushi' THEN </a:t>
            </a:r>
            <a:r>
              <a:rPr lang="en-US" dirty="0" err="1"/>
              <a:t>m.price</a:t>
            </a:r>
            <a:r>
              <a:rPr lang="en-US" dirty="0"/>
              <a:t> * 20   WHEN </a:t>
            </a:r>
            <a:r>
              <a:rPr lang="en-US" dirty="0" err="1"/>
              <a:t>s.order_date</a:t>
            </a:r>
            <a:r>
              <a:rPr lang="en-US" dirty="0"/>
              <a:t> &gt;= </a:t>
            </a:r>
            <a:r>
              <a:rPr lang="en-US" dirty="0" err="1"/>
              <a:t>mem.join_date</a:t>
            </a:r>
            <a:r>
              <a:rPr lang="en-US" dirty="0"/>
              <a:t> AND </a:t>
            </a:r>
            <a:r>
              <a:rPr lang="en-US" dirty="0" err="1"/>
              <a:t>s.order_date</a:t>
            </a:r>
            <a:r>
              <a:rPr lang="en-US" dirty="0"/>
              <a:t> &lt;= </a:t>
            </a:r>
            <a:r>
              <a:rPr lang="en-US" dirty="0" err="1"/>
              <a:t>mem.join_date</a:t>
            </a:r>
            <a:r>
              <a:rPr lang="en-US" dirty="0"/>
              <a:t> + 6 THEN </a:t>
            </a:r>
            <a:r>
              <a:rPr lang="en-US" dirty="0" err="1"/>
              <a:t>m.price</a:t>
            </a:r>
            <a:r>
              <a:rPr lang="en-US" dirty="0"/>
              <a:t> * 20               ELSE </a:t>
            </a:r>
            <a:r>
              <a:rPr lang="en-US" dirty="0" err="1"/>
              <a:t>m.price</a:t>
            </a:r>
            <a:r>
              <a:rPr lang="en-US" dirty="0"/>
              <a:t> * 10 END ) AS points</a:t>
            </a:r>
          </a:p>
          <a:p>
            <a:r>
              <a:rPr lang="en-US" dirty="0"/>
              <a:t>FROM sales s JOIN menu m ON </a:t>
            </a:r>
            <a:r>
              <a:rPr lang="en-US" dirty="0" err="1"/>
              <a:t>s.product_id</a:t>
            </a:r>
            <a:r>
              <a:rPr lang="en-US" dirty="0"/>
              <a:t> = </a:t>
            </a:r>
            <a:r>
              <a:rPr lang="en-US" dirty="0" err="1"/>
              <a:t>m.product_id</a:t>
            </a:r>
            <a:endParaRPr lang="en-US" dirty="0"/>
          </a:p>
          <a:p>
            <a:r>
              <a:rPr lang="en-US" dirty="0"/>
              <a:t>LEFT JOIN members mem ON </a:t>
            </a:r>
            <a:r>
              <a:rPr lang="en-US" dirty="0" err="1"/>
              <a:t>s.customer_id</a:t>
            </a:r>
            <a:r>
              <a:rPr lang="en-US" dirty="0"/>
              <a:t> = </a:t>
            </a:r>
            <a:r>
              <a:rPr lang="en-US" dirty="0" err="1"/>
              <a:t>mem.customer_id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s.order_date</a:t>
            </a:r>
            <a:r>
              <a:rPr lang="en-US" dirty="0"/>
              <a:t> &lt;= '2021-01-31’</a:t>
            </a:r>
          </a:p>
          <a:p>
            <a:r>
              <a:rPr lang="en-US" dirty="0"/>
              <a:t>GROUP BY </a:t>
            </a:r>
            <a:r>
              <a:rPr lang="en-US" dirty="0" err="1"/>
              <a:t>s.customer_id</a:t>
            </a:r>
            <a:r>
              <a:rPr lang="en-US" dirty="0"/>
              <a:t>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22D700-4859-D431-CDF1-1462ED2995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971" y="4129101"/>
            <a:ext cx="1819529" cy="11431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A3DD11-B5C5-82D7-8E9D-A015330DAA6C}"/>
              </a:ext>
            </a:extLst>
          </p:cNvPr>
          <p:cNvSpPr txBox="1"/>
          <p:nvPr/>
        </p:nvSpPr>
        <p:spPr>
          <a:xfrm>
            <a:off x="6325387" y="6401453"/>
            <a:ext cx="2872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n w="22225">
                  <a:solidFill>
                    <a:schemeClr val="accent2"/>
                  </a:solidFill>
                  <a:prstDash val="solid"/>
                </a:ln>
              </a:rPr>
              <a:t>Presented BY: Monica Vohra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663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AD0F86-E7F4-285B-8158-08BD2B425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A7D096-0BF7-2C5E-E7F3-A3B0E8AABBED}"/>
              </a:ext>
            </a:extLst>
          </p:cNvPr>
          <p:cNvSpPr txBox="1"/>
          <p:nvPr/>
        </p:nvSpPr>
        <p:spPr>
          <a:xfrm>
            <a:off x="8889476" y="6212264"/>
            <a:ext cx="2872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n w="22225">
                  <a:solidFill>
                    <a:schemeClr val="accent2"/>
                  </a:solidFill>
                  <a:prstDash val="solid"/>
                </a:ln>
              </a:rPr>
              <a:t>Presented BY: Monica Vohra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155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1735</Words>
  <Application>Microsoft Office PowerPoint</Application>
  <PresentationFormat>Widescreen</PresentationFormat>
  <Paragraphs>166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Bitstream Vera Sans Mono</vt:lpstr>
      <vt:lpstr>Calibri</vt:lpstr>
      <vt:lpstr>Calibri Light</vt:lpstr>
      <vt:lpstr>Courier New</vt:lpstr>
      <vt:lpstr>inherit</vt:lpstr>
      <vt:lpstr>-system-ui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Monica Vohra</dc:creator>
  <cp:lastModifiedBy>Monica Vohra</cp:lastModifiedBy>
  <cp:revision>2</cp:revision>
  <dcterms:created xsi:type="dcterms:W3CDTF">2024-06-27T10:02:32Z</dcterms:created>
  <dcterms:modified xsi:type="dcterms:W3CDTF">2024-06-27T10:23:37Z</dcterms:modified>
</cp:coreProperties>
</file>